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176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9240" y="1755653"/>
            <a:ext cx="6446520" cy="334669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138928" cy="68580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38928" y="228600"/>
            <a:ext cx="137160" cy="6400800"/>
          </a:xfrm>
          <a:prstGeom prst="rect">
            <a:avLst/>
          </a:prstGeom>
          <a:solidFill>
            <a:srgbClr val="087A3D"/>
          </a:solidFill>
          <a:ln w="12700">
            <a:solidFill>
              <a:srgbClr val="087A3D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371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بلاغ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85800" y="2148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D9F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فرز البلاغات المجتمعية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85800" y="2926080"/>
            <a:ext cx="3977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D5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محلي يساعد على تصنيف البلاغات، تحديد الأولوية، اكتشاف التكرار، وتوجيهها للجهة المناسبة.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343400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164A32"/>
          </a:solidFill>
          <a:ln w="12700">
            <a:solidFill>
              <a:srgbClr val="164A3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389120"/>
            <a:ext cx="37490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350" b="1" dirty="0">
                <a:solidFill>
                  <a:srgbClr val="D9F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Streamlit + CrewAI + Ollama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5166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الفكرة: بلاغ واحد يتحول إلى مسار عمل واضح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بلاغ | عرض المشروع  1/6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0" y="4572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0B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التي يعالجها المشروع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0" y="1005840"/>
            <a:ext cx="5212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البلاغات المجتمعية غالبًا تصل بصياغات مختلفة ومعلومات ناقصة، وقد تتكرر المشكلة نفسها من أكثر من شخص.</a:t>
            </a:r>
            <a:endParaRPr lang="en-US" sz="17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996509"/>
            <a:ext cx="5166360" cy="26821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0" y="1965960"/>
            <a:ext cx="51206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0160">
            <a:solidFill>
              <a:srgbClr val="D9E4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652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08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تحديات شائعة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46520" y="2743200"/>
            <a:ext cx="457200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تكرار نفس البلاغ من أكثر من ساكن</a:t>
            </a:r>
            <a:endParaRPr lang="en-US" sz="1800" dirty="0"/>
          </a:p>
          <a:p>
            <a:pPr marL="0" indent="0" algn="r" rtl="1">
              <a:buNone/>
            </a:pPr>
            <a:r>
              <a:rPr lang="en-US" sz="180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صعوبة تحديد الجهة المناسبة بسرعة</a:t>
            </a:r>
            <a:endParaRPr lang="en-US" sz="1800" dirty="0"/>
          </a:p>
          <a:p>
            <a:pPr marL="0" indent="0" algn="r" rtl="1">
              <a:buNone/>
            </a:pPr>
            <a:r>
              <a:rPr lang="en-US" sz="180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بلاغات ناقصة: لا يوجد معلم قريب أو وقت حدوث</a:t>
            </a:r>
            <a:endParaRPr lang="en-US" sz="1800" dirty="0"/>
          </a:p>
          <a:p>
            <a:pPr marL="0" indent="0" algn="r" rtl="1">
              <a:buNone/>
            </a:pPr>
            <a:r>
              <a:rPr lang="en-US" sz="180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الحالات الخطرة تحتاج تمييزًا فوريًا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46520" y="4526280"/>
            <a:ext cx="45720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B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تأخر في المعالجة، ازدواجية في الجهد، وصعوبة في المتابعة.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بلاغ | عرض المشروع  2/6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114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الحل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0" y="987552"/>
            <a:ext cx="4937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BBD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بدل استقبال البلاغ كنص عادي، يحوله النظام إلى قرار منظم قابل للتتبع.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001000" y="20116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DE7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62488" y="215798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2176272"/>
            <a:ext cx="242316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B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استقبال البلاغ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2505456"/>
            <a:ext cx="24231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r" rtl="1">
              <a:buNone/>
            </a:pPr>
            <a:r>
              <a:rPr lang="en-US" sz="127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عنوان، وصف، مدينة، حي، ومعلم قريب اختياري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DE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33488" y="215798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0600" y="2176272"/>
            <a:ext cx="242316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B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تصنيف وأولوية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2505456"/>
            <a:ext cx="24231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27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Python تحدد النوع والخطورة والجهة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1143000" y="20116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DE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215798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176272"/>
            <a:ext cx="242316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B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التكرار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505456"/>
            <a:ext cx="24231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r" rtl="1">
              <a:buNone/>
            </a:pPr>
            <a:r>
              <a:rPr lang="en-US" sz="127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يقارن البلاغ بالبلاغات المفتوحة في نفس المنطقة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4572000" y="370332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DE7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488" y="384962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0600" y="3867912"/>
            <a:ext cx="2423160" cy="301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B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الوكلاء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4197096"/>
            <a:ext cx="24231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27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يراجع القرار ويكتب مذكرة العمل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1143000" y="370332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0D2D4D"/>
          </a:solidFill>
          <a:ln w="10160">
            <a:solidFill>
              <a:srgbClr val="234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886200"/>
            <a:ext cx="26517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D9F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 النهائية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270" dirty="0">
                <a:solidFill>
                  <a:srgbClr val="C7D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رد جاهز للمواطن + توجيه داخلي + سجل متابعة</a:t>
            </a:r>
            <a:endParaRPr lang="en-US" sz="1270" dirty="0"/>
          </a:p>
        </p:txBody>
      </p:sp>
      <p:sp>
        <p:nvSpPr>
          <p:cNvPr id="23" name="Text 21"/>
          <p:cNvSpPr/>
          <p:nvPr/>
        </p:nvSpPr>
        <p:spPr>
          <a:xfrm>
            <a:off x="1234440" y="5440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واضحة أولًا، ثم وكلاء للمراجعة والشرح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بلاغ | عرض المشروع  3/6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0" y="457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0B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رفع البلاغ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0" y="987552"/>
            <a:ext cx="47548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 مصممة لكي يكتب المستخدم البلاغ مباشرة دون رفع ملفات أو إدخال مسارات.</a:t>
            </a:r>
            <a:endParaRPr lang="en-US" sz="17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2206164"/>
            <a:ext cx="5577840" cy="24913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874520"/>
            <a:ext cx="4617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D9E4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6656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08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يكتبه المستخدم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766560" y="2651760"/>
            <a:ext cx="402336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عنوان البلاغ</a:t>
            </a:r>
            <a:endParaRPr lang="en-US" sz="1800" dirty="0"/>
          </a:p>
          <a:p>
            <a:pPr marL="0" indent="0" algn="r" rtl="1">
              <a:buNone/>
            </a:pPr>
            <a:r>
              <a:rPr lang="en-US" sz="180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وصف المشكلة</a:t>
            </a:r>
            <a:endParaRPr lang="en-US" sz="1800" dirty="0"/>
          </a:p>
          <a:p>
            <a:pPr marL="0" indent="0" algn="r" rtl="1">
              <a:buNone/>
            </a:pPr>
            <a:r>
              <a:rPr lang="en-US" sz="180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المدينة والحي</a:t>
            </a:r>
            <a:endParaRPr lang="en-US" sz="1800" dirty="0"/>
          </a:p>
          <a:p>
            <a:pPr marL="0" indent="0" algn="r" rtl="1">
              <a:buNone/>
            </a:pPr>
            <a:r>
              <a:rPr lang="en-US" sz="180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معلم قريب اختياري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0" y="4069080"/>
            <a:ext cx="40233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0B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“حفرة كبيرة في شارع عام في حي الروابي منذ يومين.”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12280" y="4617720"/>
            <a:ext cx="32918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 rtl="1">
              <a:buNone/>
            </a:pP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بلاغ | عرض المشروع  4/6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3640" y="4114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700" b="1" dirty="0">
                <a:solidFill>
                  <a:srgbClr val="0B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الميزة القوية: اكتشاف التكرار والتوجيه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63640" y="960120"/>
            <a:ext cx="5029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5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لا يكتفي بتصنيف البلاغ؛ يقارنه بالبلاغات المفتوحة ويمنع فتح حالات مكررة لنفس المشكلة.</a:t>
            </a:r>
            <a:endParaRPr lang="en-US" sz="17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2053845"/>
            <a:ext cx="5486400" cy="284175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874520"/>
            <a:ext cx="4709160" cy="3611880"/>
          </a:xfrm>
          <a:prstGeom prst="roundRect">
            <a:avLst>
              <a:gd name="adj" fmla="val 2025"/>
            </a:avLst>
          </a:prstGeom>
          <a:solidFill>
            <a:srgbClr val="F7FAF9"/>
          </a:solidFill>
          <a:ln w="10160">
            <a:solidFill>
              <a:srgbClr val="D6E4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0" y="2148840"/>
            <a:ext cx="41605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08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القرار الناتج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675120" y="2697480"/>
            <a:ext cx="416052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التصنيف: طرق وأرصفة</a:t>
            </a:r>
            <a:endParaRPr lang="en-US" sz="1800" dirty="0"/>
          </a:p>
          <a:p>
            <a:pPr marL="0" indent="0" algn="r" rtl="1">
              <a:buNone/>
            </a:pPr>
            <a:r>
              <a:rPr lang="en-US" sz="180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الأولوية: عالية</a:t>
            </a:r>
            <a:endParaRPr lang="en-US" sz="1800" dirty="0"/>
          </a:p>
          <a:p>
            <a:pPr marL="0" indent="0" algn="r" rtl="1">
              <a:buNone/>
            </a:pPr>
            <a:r>
              <a:rPr lang="en-US" sz="180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الجهة: صيانة الطرق</a:t>
            </a:r>
            <a:endParaRPr lang="en-US" sz="1800" dirty="0"/>
          </a:p>
          <a:p>
            <a:pPr marL="0" indent="0" algn="r" rtl="1">
              <a:buNone/>
            </a:pPr>
            <a:r>
              <a:rPr lang="en-US" sz="1800" dirty="0">
                <a:solidFill>
                  <a:srgbClr val="10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بلاغ مشابه: رقم سابق بنسبة 78%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75120" y="4480560"/>
            <a:ext cx="41605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0B1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هذا يقلل التكرار ويربط المشكلة بسجل واحد قابل للمتابعة.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بلاغ | عرض المشروع  5/6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947298"/>
            <a:ext cx="6492240" cy="28262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0" y="685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 rtl="1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النهائية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315200" y="1325880"/>
            <a:ext cx="41148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 rtl="1">
              <a:buNone/>
            </a:pPr>
            <a:r>
              <a:rPr lang="en-US" sz="1700" dirty="0">
                <a:solidFill>
                  <a:srgbClr val="C7D7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بلاغ يتحول إلى مسار عمل: تصنيف، أولوية، جهة مسؤولة، رد للمواطن، ومراجعة وكلاء.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315200" y="233172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0F2F4F"/>
          </a:solidFill>
          <a:ln w="10160">
            <a:solidFill>
              <a:srgbClr val="204B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71232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D9F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الفكرة مفيدة؟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571232" y="3063240"/>
            <a:ext cx="365760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r" rtl="1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تنظم البلاغات بدل العشوائية</a:t>
            </a:r>
            <a:endParaRPr lang="en-US" sz="1550" dirty="0"/>
          </a:p>
          <a:p>
            <a:pPr marL="0" indent="0" algn="r" rtl="1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تكشف البلاغات المكررة</a:t>
            </a:r>
            <a:endParaRPr lang="en-US" sz="1550" dirty="0"/>
          </a:p>
          <a:p>
            <a:pPr marL="0" indent="0" algn="r" rtl="1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تسرّع توجيه المشكلة للجهة المناسبة</a:t>
            </a:r>
            <a:endParaRPr lang="en-US" sz="1550" dirty="0"/>
          </a:p>
          <a:p>
            <a:pPr marL="0" indent="0" algn="r" rtl="1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تحفظ السجل محليًا وتدعم المتابعة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06640" y="5166360"/>
            <a:ext cx="3931920" cy="411480"/>
          </a:xfrm>
          <a:prstGeom prst="roundRect">
            <a:avLst>
              <a:gd name="adj" fmla="val 17778"/>
            </a:avLst>
          </a:prstGeom>
          <a:solidFill>
            <a:srgbClr val="164A32"/>
          </a:solidFill>
          <a:ln w="12700">
            <a:solidFill>
              <a:srgbClr val="164A32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5212080"/>
            <a:ext cx="38404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 rtl="1">
              <a:buNone/>
            </a:pPr>
            <a:r>
              <a:rPr lang="en-US" sz="1350" b="1" dirty="0">
                <a:solidFill>
                  <a:srgbClr val="D9F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 للتطوير: صورة + خريطة + إشعارات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223760" y="5897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 للعرض كتطبيق MVP محلي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بلاغ | عرض المشروع  6/6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384</Words>
  <Application>Microsoft Office PowerPoint</Application>
  <PresentationFormat>Widescreen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مشروع بلاغ</dc:title>
  <dc:subject>بلاغ — نظام فرز البلاغات المجتمعية</dc:subject>
  <dc:creator>Suliman</dc:creator>
  <cp:lastModifiedBy>Suliman X</cp:lastModifiedBy>
  <cp:revision>4</cp:revision>
  <dcterms:created xsi:type="dcterms:W3CDTF">2026-08-06T09:51:28Z</dcterms:created>
  <dcterms:modified xsi:type="dcterms:W3CDTF">2026-08-09T16:22:01Z</dcterms:modified>
</cp:coreProperties>
</file>